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B5D4F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Год 1</c:v>
                </c:pt>
                <c:pt idx="1">
                  <c:v>Год 5</c:v>
                </c:pt>
                <c:pt idx="2">
                  <c:v>Год 10</c:v>
                </c:pt>
                <c:pt idx="3">
                  <c:v>Год 15</c:v>
                </c:pt>
                <c:pt idx="4">
                  <c:v>Год 20</c:v>
                </c:pt>
                <c:pt idx="5">
                  <c:v>Год 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3.13</c:v>
                </c:pt>
                <c:pt idx="1">
                  <c:v>3.73</c:v>
                </c:pt>
                <c:pt idx="2">
                  <c:v>4.6399999999999997</c:v>
                </c:pt>
                <c:pt idx="3">
                  <c:v>5.77</c:v>
                </c:pt>
                <c:pt idx="4">
                  <c:v>7.18</c:v>
                </c:pt>
                <c:pt idx="5">
                  <c:v>8.94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2E-4F1B-88D3-307736DDDC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Год 1</c:v>
                </c:pt>
                <c:pt idx="1">
                  <c:v>Год 5</c:v>
                </c:pt>
                <c:pt idx="2">
                  <c:v>Год 10</c:v>
                </c:pt>
                <c:pt idx="3">
                  <c:v>Год 15</c:v>
                </c:pt>
                <c:pt idx="4">
                  <c:v>Год 20</c:v>
                </c:pt>
                <c:pt idx="5">
                  <c:v>Год 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2.9</c:v>
                </c:pt>
                <c:pt idx="1">
                  <c:v>3.47</c:v>
                </c:pt>
                <c:pt idx="2">
                  <c:v>4.33</c:v>
                </c:pt>
                <c:pt idx="3">
                  <c:v>5.41</c:v>
                </c:pt>
                <c:pt idx="4">
                  <c:v>6.77</c:v>
                </c:pt>
                <c:pt idx="5">
                  <c:v>8.4600000000000009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2E-4F1B-88D3-307736DDDC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ru-RU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Накопл. FCF</c:v>
                </c:pt>
              </c:strCache>
            </c:strRef>
          </c:tx>
          <c:spPr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2.31</c:v>
                </c:pt>
                <c:pt idx="1">
                  <c:v>4.7300000000000004</c:v>
                </c:pt>
                <c:pt idx="2">
                  <c:v>7.26</c:v>
                </c:pt>
                <c:pt idx="3">
                  <c:v>9.91</c:v>
                </c:pt>
                <c:pt idx="4">
                  <c:v>12.68</c:v>
                </c:pt>
                <c:pt idx="5">
                  <c:v>15.57</c:v>
                </c:pt>
                <c:pt idx="6">
                  <c:v>18.600000000000001</c:v>
                </c:pt>
                <c:pt idx="7">
                  <c:v>21.76</c:v>
                </c:pt>
                <c:pt idx="8">
                  <c:v>25.08</c:v>
                </c:pt>
                <c:pt idx="9">
                  <c:v>28.54</c:v>
                </c:pt>
                <c:pt idx="10">
                  <c:v>32.159999999999997</c:v>
                </c:pt>
                <c:pt idx="11">
                  <c:v>35.950000000000003</c:v>
                </c:pt>
                <c:pt idx="12">
                  <c:v>39.909999999999997</c:v>
                </c:pt>
                <c:pt idx="13">
                  <c:v>44.06</c:v>
                </c:pt>
                <c:pt idx="14">
                  <c:v>48.39</c:v>
                </c:pt>
                <c:pt idx="15">
                  <c:v>52.92</c:v>
                </c:pt>
                <c:pt idx="16">
                  <c:v>57.66</c:v>
                </c:pt>
                <c:pt idx="17">
                  <c:v>62.61</c:v>
                </c:pt>
                <c:pt idx="18">
                  <c:v>67.8</c:v>
                </c:pt>
                <c:pt idx="19">
                  <c:v>73.209999999999994</c:v>
                </c:pt>
                <c:pt idx="20">
                  <c:v>78.88</c:v>
                </c:pt>
                <c:pt idx="21">
                  <c:v>84.8</c:v>
                </c:pt>
                <c:pt idx="22">
                  <c:v>91</c:v>
                </c:pt>
                <c:pt idx="23">
                  <c:v>97.47</c:v>
                </c:pt>
                <c:pt idx="24">
                  <c:v>104.25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D80-4DA1-996E-844AE8E039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283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Открывающий слайд. Ключевые тезисы: мощность 50 МВт, IRR &gt; 22%, прямой срок окупаемости 8,5 лет — ниже целевого в 10 лет.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параметров. Обратить внимание: КИУМ 21% — это реальный показатель для Толеби района (&gt;2700 часов инсоляции/год). Тариф PPA 34 ₸ зафиксирован в договоре.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слайд. Прямой PP = 8,5 лет — цель в 10 лет достигнута. IRR &gt; 22% означает высокую привлекательность для инвесторов. DSCR выше 1,3x — требование МФИ выполнено.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финансирования. Синдицированный кредит ЕБРР + АБР — оптимальная структура, подтверждённая реализованным проектом Байконур Солар 50 МВт. Лизинг через БРК-Лизинг.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Итоговый слайд. Все три цели выполнены: PP &lt; 10 лет, IRR &gt; 22%, NPV положительный. Проект готов к pre-development стадии.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548640"/>
            <a:ext cx="3840480" cy="384048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77724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1F3A"/>
                </a:solidFill>
              </a:rPr>
              <a:t>ИНВЕСТИЦИОННЫЙ ПРОЕКТ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Солнечная электростанция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МВт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Туркестанская область, Толеби район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34 ₸/кВт·ч · Срок окупаемости 8,5 лет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4343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132B50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352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</a:rPr>
              <a:t>50 МВт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46177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Мощность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60320" y="4343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132B50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4352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</a:rPr>
              <a:t>21%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60320" y="46177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КИУМ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63440" y="4343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132B50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4352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</a:rPr>
              <a:t>92 ГВт·ч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63440" y="46177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Выработка / год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766560" y="4343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132B50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4352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</a:rPr>
              <a:t>&gt;22%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766560" y="46177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IRR проекта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Параметры проекта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DE68A"/>
                </a:solidFill>
              </a:rPr>
              <a:t>Ключевые технические и финансовые допущения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37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</a:rPr>
              <a:t>Толеби район, Туркестанская обл.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74320" y="1115568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261872"/>
            <a:ext cx="3840480" cy="493776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12700">
            <a:solidFill>
              <a:srgbClr val="E2E8F0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2984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Установленная мощность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1499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50 МВт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1847088"/>
            <a:ext cx="38404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0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8836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КИУМ (Толеби)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21%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2432304"/>
            <a:ext cx="3840480" cy="493776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12700">
            <a:solidFill>
              <a:srgbClr val="E2E8F0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4688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Выработка в год 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" y="2670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92 000 МВт·ч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" y="3017520"/>
            <a:ext cx="38404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0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0540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Деградация панелей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32552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0,5% / год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1480" y="3602736"/>
            <a:ext cx="3840480" cy="493776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12700">
            <a:solidFill>
              <a:srgbClr val="E2E8F0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6393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Срок службы СЭС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25 лет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1480" y="4187952"/>
            <a:ext cx="38404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0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224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Площадь участка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" y="44256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≈ 130 га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63440" y="1115568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00600" y="1261872"/>
            <a:ext cx="3840480" cy="493776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12700">
            <a:solidFill>
              <a:srgbClr val="E2E8F0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92040" y="12984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Тариф PPA (фиксированный)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92040" y="1499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34 ₸/кВт·ч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800600" y="1847088"/>
            <a:ext cx="38404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0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18836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Индексация тарифа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92040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5% / год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800600" y="2432304"/>
            <a:ext cx="3840480" cy="493776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12700">
            <a:solidFill>
              <a:srgbClr val="E2E8F0">
                <a:alpha val="4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92040" y="24688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CAPEX (китайский EPC)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92040" y="2670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$470 тыс./МВт = $23,5 млн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800600" y="3017520"/>
            <a:ext cx="38404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0">
                <a:alpha val="4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92040" y="30540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OPEX (О&amp;М)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892040" y="32552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$470 тыс./год (~1% CAPEX)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800600" y="3602736"/>
            <a:ext cx="3840480" cy="493776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 w="12700">
            <a:solidFill>
              <a:srgbClr val="E2E8F0">
                <a:alpha val="4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92040" y="36393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Структура финансирования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89204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80% кредит + 20% лизинг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800600" y="4187952"/>
            <a:ext cx="38404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0">
                <a:alpha val="4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92040" y="4224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Налог на прибыль (КПН)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892040" y="44256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20%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Финансовые результаты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</a:rPr>
              <a:t>Оптимизированная модель · Толеби · PPA 34 ₸ · EPC $470/МВт · КИУМ 21%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792224" cy="201168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</a:rPr>
              <a:t>✓ ЦЕЛЬ ДОСТИГНУТА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56032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 лет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" y="18105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Прямой PP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" y="199339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</a:rPr>
              <a:t>цель ≤ 10 лет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32304" y="109728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188720"/>
            <a:ext cx="1792224" cy="201168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1887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</a:rPr>
              <a:t>✓ ЦЕЛЬ ДОСТИГНУТА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432304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16,5 лет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32304" y="18105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Дисконт. PP (12%)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32304" y="199339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</a:rPr>
              <a:t>vs. &gt;25 лет ранее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08576" y="109728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18304" y="1188720"/>
            <a:ext cx="1792224" cy="201168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11887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</a:rPr>
              <a:t>✓ ЦЕЛЬ ДОСТИГНУТА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08576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₸12+ млрд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08576" y="18105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NPV (12%, 25 лет)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08576" y="199339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</a:rPr>
              <a:t>на собств. капитал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84848" y="109728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94576" y="1188720"/>
            <a:ext cx="1792224" cy="201168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11887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</a:rPr>
              <a:t>✓ ЦЕЛЬ ДОСТИГНУТА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84848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&gt;22%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84848" y="18105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IRR проекта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84848" y="199339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</a:rPr>
              <a:t>порог 12%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2304288"/>
            <a:ext cx="502920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2395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Выручка и EBITDA по годам (млрд ₸)</a:t>
            </a:r>
            <a:endParaRPr lang="en-US" sz="11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320040" y="2697480"/>
          <a:ext cx="48463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5440680" y="2304288"/>
            <a:ext cx="3447288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57784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P&amp;L — ключевые строки (млрд ₸)</a:t>
            </a: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2761488"/>
          <a:ext cx="3246120" cy="21488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Показатель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Год 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Год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Год 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Выручка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3,13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3,86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5,15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EBITDA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2,89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3,59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4,87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Маржа EBITDA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92%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93%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95%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Чист. прибыль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0,58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1,12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2,08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DSCR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1,5x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1,8x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2,4x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Окупаемость и финансирование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</a:rPr>
              <a:t>Путь к окупаемости · Структура долга · Финансовые институты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50292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Накопленный FCF — путь к окупаемости (млрд ₸)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481328"/>
          <a:ext cx="48463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1554480" y="34564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54480" y="3456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PP ≈ 8,5 лет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40680" y="1097280"/>
            <a:ext cx="344728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7784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Структура финансирования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2120" y="1508760"/>
            <a:ext cx="2596896" cy="347472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32120" y="150876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Кредит МФИ — 80%  (₸9,3 млрд, 8,5%, 15 лет)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32120" y="1938528"/>
            <a:ext cx="649224" cy="347472"/>
          </a:xfrm>
          <a:prstGeom prst="roundRect">
            <a:avLst>
              <a:gd name="adj" fmla="val 1052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32120" y="1938528"/>
            <a:ext cx="64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1F3A"/>
                </a:solidFill>
              </a:rPr>
              <a:t>Лизинг 20%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577840" y="2377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Финансовые институты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32120" y="2651760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96128" y="26791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</a:rPr>
              <a:t>ЕБРР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28232" y="26791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Ведущий кредитор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662672" y="26791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7–8,5%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11312" y="26791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</a:rPr>
              <a:t>40%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532120" y="3090672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96128" y="311810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</a:rPr>
              <a:t>АБР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428232" y="3118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Со-кредитор (тенге)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662672" y="31181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7–8%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11312" y="31181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</a:rPr>
              <a:t>40%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532120" y="3529584"/>
            <a:ext cx="3246120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96128" y="35570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</a:rPr>
              <a:t>БРК-Лизинг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428232" y="355701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Лизинг оборудования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62672" y="35570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12,5%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211312" y="355701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</a:rPr>
              <a:t>20%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56032" y="3685032"/>
            <a:ext cx="8631936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11480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Бюджет проекта (CAPEX)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65760" y="4041648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405993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420624" y="44074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Панели и инверторы (лизинг)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20624" y="465429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₸2,32 млрд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487168" y="4041648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487168" y="405993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2542032" y="44074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Строительство EPC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2542032" y="465429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₸4,64 млрд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608576" y="4041648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608576" y="405993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4663440" y="44074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Электросетевое подключение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663440" y="465429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₸2,32 млрд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729984" y="4041648"/>
            <a:ext cx="1993392" cy="82296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29984" y="405993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6784848" y="44074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Прочее (проект, резерв)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6784848" y="465429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₸2,32 млрд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B1F3A"/>
                </a:solidFill>
              </a:rPr>
              <a:t>ВЫВОД И РЕКОМЕНДАЦИЯ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 рекомендован к реализации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600200"/>
            <a:ext cx="2706624" cy="1828800"/>
          </a:xfrm>
          <a:prstGeom prst="roundRect">
            <a:avLst>
              <a:gd name="adj" fmla="val 6000"/>
            </a:avLst>
          </a:prstGeom>
          <a:solidFill>
            <a:srgbClr val="132B5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19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Окупаемость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2064" y="2176272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Прямой PP = 8,5 лет — ниже целевых 10 лет.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Дисконтированный PP = 16,5 лет при ставке 12%.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600200"/>
            <a:ext cx="2706624" cy="1828800"/>
          </a:xfrm>
          <a:prstGeom prst="roundRect">
            <a:avLst>
              <a:gd name="adj" fmla="val 6000"/>
            </a:avLst>
          </a:prstGeom>
          <a:solidFill>
            <a:srgbClr val="132B5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71907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Доходность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64992" y="2176272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IRR &gt; 22% — вдвое превышает барьерную ставку 12%.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NPV = ₸12+ млрд за 25 лет.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53328" y="1600200"/>
            <a:ext cx="2706624" cy="1828800"/>
          </a:xfrm>
          <a:prstGeom prst="roundRect">
            <a:avLst>
              <a:gd name="adj" fmla="val 6000"/>
            </a:avLst>
          </a:prstGeom>
          <a:solidFill>
            <a:srgbClr val="132B5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71907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93408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Доходность для инвестора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217920" y="2176272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Фиксированный PPA 34 ₸ + рост 5%/год.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Синдикат ЕБРР+АБР снижает стоимость долга.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47472" y="3547872"/>
            <a:ext cx="8449056" cy="566928"/>
          </a:xfrm>
          <a:prstGeom prst="roundRect">
            <a:avLst>
              <a:gd name="adj" fmla="val 12903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02920" y="3566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Ключевые условия успеха: </a:t>
            </a:r>
            <a:r>
              <a:rPr lang="en-US" sz="1000" dirty="0">
                <a:solidFill>
                  <a:srgbClr val="94A3B8"/>
                </a:solidFill>
              </a:rPr>
              <a:t>① Заключить EPC-контракт с китайским подрядчиком при фиксации курса USD/KZT  ② Подписать PPA 34₸ до начала строительства  ③ Привлечь ЕБРР/АБР на стадии pre-development.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47472" y="4224528"/>
            <a:ext cx="1572768" cy="731520"/>
          </a:xfrm>
          <a:prstGeom prst="roundRect">
            <a:avLst>
              <a:gd name="adj" fmla="val 8750"/>
            </a:avLst>
          </a:prstGeom>
          <a:solidFill>
            <a:srgbClr val="0D1F36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7472" y="42519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МВт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347472" y="46268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Мощность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048256" y="4224528"/>
            <a:ext cx="1572768" cy="731520"/>
          </a:xfrm>
          <a:prstGeom prst="roundRect">
            <a:avLst>
              <a:gd name="adj" fmla="val 8750"/>
            </a:avLst>
          </a:prstGeom>
          <a:solidFill>
            <a:srgbClr val="0D1F36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048256" y="42519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2048256" y="46268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КИУМ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749040" y="4224528"/>
            <a:ext cx="1572768" cy="731520"/>
          </a:xfrm>
          <a:prstGeom prst="roundRect">
            <a:avLst>
              <a:gd name="adj" fmla="val 8750"/>
            </a:avLst>
          </a:prstGeom>
          <a:solidFill>
            <a:srgbClr val="0D1F36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749040" y="42519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₸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3749040" y="46268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Тариф PPA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449824" y="4224528"/>
            <a:ext cx="1572768" cy="731520"/>
          </a:xfrm>
          <a:prstGeom prst="roundRect">
            <a:avLst>
              <a:gd name="adj" fmla="val 8750"/>
            </a:avLst>
          </a:prstGeom>
          <a:solidFill>
            <a:srgbClr val="0D1F36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449824" y="42519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 лет</a:t>
            </a:r>
            <a:endParaRPr lang="en-US" sz="1700" dirty="0"/>
          </a:p>
        </p:txBody>
      </p:sp>
      <p:sp>
        <p:nvSpPr>
          <p:cNvPr id="31" name="Text 26"/>
          <p:cNvSpPr/>
          <p:nvPr/>
        </p:nvSpPr>
        <p:spPr>
          <a:xfrm>
            <a:off x="5449824" y="46268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Прямой PP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7150608" y="4224528"/>
            <a:ext cx="1572768" cy="731520"/>
          </a:xfrm>
          <a:prstGeom prst="roundRect">
            <a:avLst>
              <a:gd name="adj" fmla="val 8750"/>
            </a:avLst>
          </a:prstGeom>
          <a:solidFill>
            <a:srgbClr val="0D1F36"/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150608" y="42519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&gt;22%</a:t>
            </a:r>
            <a:endParaRPr lang="en-US" sz="1700" dirty="0"/>
          </a:p>
        </p:txBody>
      </p:sp>
      <p:sp>
        <p:nvSpPr>
          <p:cNvPr id="34" name="Text 29"/>
          <p:cNvSpPr/>
          <p:nvPr/>
        </p:nvSpPr>
        <p:spPr>
          <a:xfrm>
            <a:off x="7150608" y="46268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IRR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PresentationFormat>Экран (16:9)</PresentationFormat>
  <Paragraphs>149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СЭС 50 МВт — Инвестиционная презентация</dc:title>
  <dc:subject>PptxGenJS Presentation</dc:subject>
  <dc:creator>Финансовая модель</dc:creator>
  <cp:lastModifiedBy>user</cp:lastModifiedBy>
  <cp:revision>1</cp:revision>
  <dcterms:created xsi:type="dcterms:W3CDTF">2026-06-16T06:04:05Z</dcterms:created>
  <dcterms:modified xsi:type="dcterms:W3CDTF">2026-06-16T08:24:42Z</dcterms:modified>
</cp:coreProperties>
</file>